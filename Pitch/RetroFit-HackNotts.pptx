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it is" id="{b52280cb-1c93-f1c8-6141-87b2fbae00e4}">
          <p14:sldIdLst>
            <p14:sldId id="256"/>
          </p14:sldIdLst>
        </p14:section>
        <p14:section name="Inside the app" id="{c2dd101a-79f5-5704-342c-83d7945afbbd}">
          <p14:sldIdLst>
            <p14:sldId id="257"/>
          </p14:sldIdLst>
        </p14:section>
        <p14:section name="Classic theme" id="{35ddee69-06c7-1494-2314-081a81d49423}">
          <p14:sldIdLst>
            <p14:sldId id="258"/>
          </p14:sldIdLst>
        </p14:section>
        <p14:section name="How we built it" id="{6787f8c3-d0d4-154e-8ea5-c86284542cfc}">
          <p14:sldIdLst>
            <p14:sldId id="259"/>
          </p14:sldIdLst>
        </p14:section>
        <p14:section name="Finish" id="{3dd64abf-cb8f-a812-6964-6b93c309fe6a}">
          <p14:sldIdLst>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(about 30 seconds)
Hi, we're Theo and Raff, and this is RetroFit.
Y2K fashion is everywhere right now, but most of it is second-hand, so you can't try it on before you buy.
RetroFit fixes that. You can try glasses and hats on live with AR, see yourself wearing any piece with AI, and then find the real thing second-hand on Depop, Vinted or eBay.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(about 40 seconds)
This is the closet: 26 Y2K pieces you can search and filter.
Tap any piece and RetroFit offers an AI try-on. You can also add it to an outfit and try several pieces on together.
The bag button finds that exact piece second-hand on Depop, Vinted or eBay.
And on Profile you can change the whole look of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(about 15 seconds)
Not into Y2K? One tap on Profile and the whole app switches to our original Classic Windows 2000 look: the same closet, dialogs and shops.
Both themes are drawn by the same components, so every feature works in either one.
Raff built the engine behind all of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RAFF (about 50 seconds)
RetroFit is a native SwiftUI app.
Live try-on uses ARKit face tracking with RealityKit. The USDZ glasses, and the hats we modelled in Blender, are fitted to your eyes and head every frame.
For AI try-on the phone never holds the API key. It sends the photos to our Vercel function, which checks an app token and queues the job on fal.ai's virtual try-on model. The app polls it for progress, which is why you see a buffering bar with your place in the queue.
We built our own design system, so the same components draw both the Classic and the Y2K Chrome theme.
And Find it turns each garment's own search phrase into a Depop, Vinted or eBay search, opening the shop's app if you have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RAFF (about 20 seconds)
That's RetroFit: try it on, then find it second-hand.
Thanks for listening. Let's try it on.
Hand the phone to Theo for the live demo: AR glasses, then an AI try-on, then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RF-Hero-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RF-Closing-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RF-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RF Hero">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95728"/>
            <a:ext cx="6583680" cy="914400"/>
          </a:xfrm>
          <a:prstGeom prst="rect">
            <a:avLst/>
          </a:prstGeom>
          <a:noFill/>
          <a:ln/>
        </p:spPr>
        <p:txBody>
          <a:bodyPr wrap="square" rtlCol="0"/>
          <a:lstStyle>
            <a:lvl1pPr algn="l" indent="0" marL="0">
              <a:buNone/>
              <a:defRPr lang="en-US" sz="2400" b="1" dirty="0">
                <a:solidFill>
                  <a:schemeClr val="tx1"/>
                </a:solidFill>
                <a:latin typeface="Arial" pitchFamily="34" charset="0"/>
                <a:ea typeface="Arial" pitchFamily="34" charset="-122"/>
                <a:cs typeface="Arial" pitchFamily="34" charset="-120"/>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RF Closing">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1371600" y="3703320"/>
            <a:ext cx="9445752" cy="685800"/>
          </a:xfrm>
          <a:prstGeom prst="rect">
            <a:avLst/>
          </a:prstGeom>
          <a:noFill/>
          <a:ln/>
        </p:spPr>
        <p:txBody>
          <a:bodyPr wrap="square" rtlCol="0"/>
          <a:lstStyle>
            <a:lvl1pPr algn="ctr" indent="0" marL="0">
              <a:buNone/>
              <a:defRPr lang="en-US" sz="3200" dirty="0">
                <a:solidFill>
                  <a:schemeClr val="tx1"/>
                </a:solidFill>
              </a:defRPr>
            </a:lvl1pPr>
          </a:lstStyle>
          <a:p>
            <a:pPr algn="ctr" indent="0" marL="0">
              <a:buNone/>
            </a:pPr>
            <a:endParaRPr lang="en-US" sz="3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RF 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rtlCol="0"/>
          <a:lstStyle>
            <a:lvl1pPr algn="l" indent="0" marL="0">
              <a:buNone/>
              <a:defRPr lang="en-US" sz="3400" dirty="0">
                <a:solidFill>
                  <a:schemeClr val="tx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4.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RetroFit wordmark" descr="RetroFit, in liquid chrome lettering">    </p:cNvPr>
          <p:cNvPicPr>
            <a:picLocks noChangeAspect="1"/>
          </p:cNvPicPr>
          <p:nvPr/>
        </p:nvPicPr>
        <p:blipFill>
          <a:blip r:embed="rId1"/>
          <a:stretch>
            <a:fillRect/>
          </a:stretch>
        </p:blipFill>
        <p:spPr>
          <a:xfrm>
            <a:off x="548640" y="658368"/>
            <a:ext cx="6309360" cy="1592032"/>
          </a:xfrm>
          <a:prstGeom prst="rect">
            <a:avLst/>
          </a:prstGeom>
        </p:spPr>
      </p:pic>
      <p:pic>
        <p:nvPicPr>
          <p:cNvPr id="3" name="Sparkle" descr="Sparkle decoration">    </p:cNvPr>
          <p:cNvPicPr>
            <a:picLocks noChangeAspect="1"/>
          </p:cNvPicPr>
          <p:nvPr/>
        </p:nvPicPr>
        <p:blipFill>
          <a:blip r:embed="rId2"/>
          <a:stretch>
            <a:fillRect/>
          </a:stretch>
        </p:blipFill>
        <p:spPr>
          <a:xfrm>
            <a:off x="6629400" y="384048"/>
            <a:ext cx="566928" cy="566928"/>
          </a:xfrm>
          <a:prstGeom prst="rect">
            <a:avLst/>
          </a:prstGeom>
        </p:spPr>
      </p:pic>
      <p:sp>
        <p:nvSpPr>
          <p:cNvPr id="4" name="Text 0"/>
          <p:cNvSpPr/>
          <p:nvPr>
            <p:ph idx="100" type="title" hasCustomPrompt="1"/>
          </p:nvPr>
        </p:nvSpPr>
        <p:spPr>
          <a:xfrm>
            <a:off x="548640" y="2395728"/>
            <a:ext cx="6583680" cy="914400"/>
          </a:xfrm>
          <a:prstGeom prst="rect">
            <a:avLst/>
          </a:prstGeom>
          <a:noFill/>
          <a:ln/>
        </p:spPr>
        <p:txBody>
          <a:bodyPr wrap="square" lIns="0" tIns="0" rIns="0" bIns="0" rtlCol="0" anchor="t"/>
          <a:lstStyle/>
          <a:p>
            <a:pPr algn="l" indent="0" marL="0">
              <a:buNone/>
            </a:pPr>
            <a:r>
              <a:rPr lang="en-US" sz="2400" b="1" dirty="0">
                <a:solidFill>
                  <a:schemeClr val="tx1"/>
                </a:solidFill>
                <a:latin typeface="Arial" pitchFamily="34" charset="0"/>
                <a:ea typeface="Arial" pitchFamily="34" charset="-122"/>
                <a:cs typeface="Arial" pitchFamily="34" charset="-120"/>
              </a:rPr>
              <a:t>Try on Y2K fashion with AR and AI, then find it second-hand</a:t>
            </a:r>
            <a:endParaRPr lang="en-US" sz="2400" dirty="0"/>
          </a:p>
        </p:txBody>
      </p:sp>
      <p:sp>
        <p:nvSpPr>
          <p:cNvPr id="5" name="Live AR try-on card"/>
          <p:cNvSpPr/>
          <p:nvPr/>
        </p:nvSpPr>
        <p:spPr>
          <a:xfrm>
            <a:off x="548640" y="3456432"/>
            <a:ext cx="6309360" cy="804672"/>
          </a:xfrm>
          <a:prstGeom prst="roundRect">
            <a:avLst>
              <a:gd name="adj" fmla="val 18182"/>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6" name="Live AR try-on circle"/>
          <p:cNvSpPr/>
          <p:nvPr/>
        </p:nvSpPr>
        <p:spPr>
          <a:xfrm>
            <a:off x="731520" y="3593592"/>
            <a:ext cx="530352" cy="530352"/>
          </a:xfrm>
          <a:prstGeom prst="ellipse">
            <a:avLst/>
          </a:prstGeom>
          <a:solidFill>
            <a:schemeClr val="accent1"/>
          </a:solidFill>
          <a:ln w="19050">
            <a:solidFill>
              <a:srgbClr val="FFFFFF"/>
            </a:solidFill>
            <a:prstDash val="solid"/>
          </a:ln>
        </p:spPr>
      </p:sp>
      <p:pic>
        <p:nvPicPr>
          <p:cNvPr id="7" name="Live AR try-on icon" descr="Live AR try-on icon">    </p:cNvPr>
          <p:cNvPicPr>
            <a:picLocks noChangeAspect="1"/>
          </p:cNvPicPr>
          <p:nvPr/>
        </p:nvPicPr>
        <p:blipFill>
          <a:blip r:embed="rId3"/>
          <a:stretch>
            <a:fillRect/>
          </a:stretch>
        </p:blipFill>
        <p:spPr>
          <a:xfrm>
            <a:off x="848197" y="3710269"/>
            <a:ext cx="296997" cy="296997"/>
          </a:xfrm>
          <a:prstGeom prst="rect">
            <a:avLst/>
          </a:prstGeom>
        </p:spPr>
      </p:pic>
      <p:sp>
        <p:nvSpPr>
          <p:cNvPr id="8" name="Live AR try-on title"/>
          <p:cNvSpPr txBox="1"/>
          <p:nvPr/>
        </p:nvSpPr>
        <p:spPr>
          <a:xfrm>
            <a:off x="1463040" y="3547872"/>
            <a:ext cx="5212080" cy="329184"/>
          </a:xfrm>
          <a:prstGeom prst="rect">
            <a:avLst/>
          </a:prstGeom>
          <a:noFill/>
          <a:ln/>
        </p:spPr>
        <p:txBody>
          <a:bodyPr wrap="square" lIns="0" tIns="0" rIns="0" bIns="0" rtlCol="0" anchor="ctr"/>
          <a:lstStyle/>
          <a:p>
            <a:pPr indent="0" marL="0">
              <a:buNone/>
            </a:pPr>
            <a:r>
              <a:rPr lang="en-US" sz="1700" b="1" dirty="0">
                <a:solidFill>
                  <a:schemeClr val="tx1"/>
                </a:solidFill>
              </a:rPr>
              <a:t>Live AR try-on</a:t>
            </a:r>
            <a:endParaRPr lang="en-US" sz="1700" dirty="0"/>
          </a:p>
        </p:txBody>
      </p:sp>
      <p:sp>
        <p:nvSpPr>
          <p:cNvPr id="9" name="Live AR try-on text"/>
          <p:cNvSpPr txBox="1"/>
          <p:nvPr/>
        </p:nvSpPr>
        <p:spPr>
          <a:xfrm>
            <a:off x="1463040" y="3877056"/>
            <a:ext cx="5212080" cy="292608"/>
          </a:xfrm>
          <a:prstGeom prst="rect">
            <a:avLst/>
          </a:prstGeom>
          <a:noFill/>
          <a:ln/>
        </p:spPr>
        <p:txBody>
          <a:bodyPr wrap="square" lIns="0" tIns="0" rIns="0" bIns="0" rtlCol="0" anchor="ctr"/>
          <a:lstStyle/>
          <a:p>
            <a:pPr indent="0" marL="0">
              <a:buNone/>
            </a:pPr>
            <a:r>
              <a:rPr lang="en-US" sz="1400" dirty="0">
                <a:solidFill>
                  <a:schemeClr val="tx2"/>
                </a:solidFill>
              </a:rPr>
              <a:t>Glasses and hats on your face, in real time</a:t>
            </a:r>
            <a:endParaRPr lang="en-US" sz="1400" dirty="0"/>
          </a:p>
        </p:txBody>
      </p:sp>
      <p:sp>
        <p:nvSpPr>
          <p:cNvPr id="10" name="AI try-on card"/>
          <p:cNvSpPr/>
          <p:nvPr/>
        </p:nvSpPr>
        <p:spPr>
          <a:xfrm>
            <a:off x="548640" y="4407408"/>
            <a:ext cx="6309360" cy="804672"/>
          </a:xfrm>
          <a:prstGeom prst="roundRect">
            <a:avLst>
              <a:gd name="adj" fmla="val 18182"/>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11" name="AI try-on circle"/>
          <p:cNvSpPr/>
          <p:nvPr/>
        </p:nvSpPr>
        <p:spPr>
          <a:xfrm>
            <a:off x="731520" y="4544568"/>
            <a:ext cx="530352" cy="530352"/>
          </a:xfrm>
          <a:prstGeom prst="ellipse">
            <a:avLst/>
          </a:prstGeom>
          <a:solidFill>
            <a:schemeClr val="accent1"/>
          </a:solidFill>
          <a:ln w="19050">
            <a:solidFill>
              <a:srgbClr val="FFFFFF"/>
            </a:solidFill>
            <a:prstDash val="solid"/>
          </a:ln>
        </p:spPr>
      </p:sp>
      <p:pic>
        <p:nvPicPr>
          <p:cNvPr id="12" name="AI try-on icon" descr="AI try-on icon">    </p:cNvPr>
          <p:cNvPicPr>
            <a:picLocks noChangeAspect="1"/>
          </p:cNvPicPr>
          <p:nvPr/>
        </p:nvPicPr>
        <p:blipFill>
          <a:blip r:embed="rId4"/>
          <a:stretch>
            <a:fillRect/>
          </a:stretch>
        </p:blipFill>
        <p:spPr>
          <a:xfrm>
            <a:off x="848197" y="4661245"/>
            <a:ext cx="296997" cy="296997"/>
          </a:xfrm>
          <a:prstGeom prst="rect">
            <a:avLst/>
          </a:prstGeom>
        </p:spPr>
      </p:pic>
      <p:sp>
        <p:nvSpPr>
          <p:cNvPr id="13" name="AI try-on title"/>
          <p:cNvSpPr txBox="1"/>
          <p:nvPr/>
        </p:nvSpPr>
        <p:spPr>
          <a:xfrm>
            <a:off x="1463040" y="4498848"/>
            <a:ext cx="5212080" cy="329184"/>
          </a:xfrm>
          <a:prstGeom prst="rect">
            <a:avLst/>
          </a:prstGeom>
          <a:noFill/>
          <a:ln/>
        </p:spPr>
        <p:txBody>
          <a:bodyPr wrap="square" lIns="0" tIns="0" rIns="0" bIns="0" rtlCol="0" anchor="ctr"/>
          <a:lstStyle/>
          <a:p>
            <a:pPr indent="0" marL="0">
              <a:buNone/>
            </a:pPr>
            <a:r>
              <a:rPr lang="en-US" sz="1700" b="1" dirty="0">
                <a:solidFill>
                  <a:schemeClr val="tx1"/>
                </a:solidFill>
              </a:rPr>
              <a:t>AI try-on</a:t>
            </a:r>
            <a:endParaRPr lang="en-US" sz="1700" dirty="0"/>
          </a:p>
        </p:txBody>
      </p:sp>
      <p:sp>
        <p:nvSpPr>
          <p:cNvPr id="14" name="AI try-on text"/>
          <p:cNvSpPr txBox="1"/>
          <p:nvPr/>
        </p:nvSpPr>
        <p:spPr>
          <a:xfrm>
            <a:off x="1463040" y="4828032"/>
            <a:ext cx="5212080" cy="292608"/>
          </a:xfrm>
          <a:prstGeom prst="rect">
            <a:avLst/>
          </a:prstGeom>
          <a:noFill/>
          <a:ln/>
        </p:spPr>
        <p:txBody>
          <a:bodyPr wrap="square" lIns="0" tIns="0" rIns="0" bIns="0" rtlCol="0" anchor="ctr"/>
          <a:lstStyle/>
          <a:p>
            <a:pPr indent="0" marL="0">
              <a:buNone/>
            </a:pPr>
            <a:r>
              <a:rPr lang="en-US" sz="1400" dirty="0">
                <a:solidFill>
                  <a:schemeClr val="tx2"/>
                </a:solidFill>
              </a:rPr>
              <a:t>Take a photo and see yourself wearing any piece</a:t>
            </a:r>
            <a:endParaRPr lang="en-US" sz="1400" dirty="0"/>
          </a:p>
        </p:txBody>
      </p:sp>
      <p:sp>
        <p:nvSpPr>
          <p:cNvPr id="15" name="Find it second-hand card"/>
          <p:cNvSpPr/>
          <p:nvPr/>
        </p:nvSpPr>
        <p:spPr>
          <a:xfrm>
            <a:off x="548640" y="5358384"/>
            <a:ext cx="6309360" cy="804672"/>
          </a:xfrm>
          <a:prstGeom prst="roundRect">
            <a:avLst>
              <a:gd name="adj" fmla="val 18182"/>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16" name="Find it second-hand circle"/>
          <p:cNvSpPr/>
          <p:nvPr/>
        </p:nvSpPr>
        <p:spPr>
          <a:xfrm>
            <a:off x="731520" y="5495544"/>
            <a:ext cx="530352" cy="530352"/>
          </a:xfrm>
          <a:prstGeom prst="ellipse">
            <a:avLst/>
          </a:prstGeom>
          <a:solidFill>
            <a:schemeClr val="accent1"/>
          </a:solidFill>
          <a:ln w="19050">
            <a:solidFill>
              <a:srgbClr val="FFFFFF"/>
            </a:solidFill>
            <a:prstDash val="solid"/>
          </a:ln>
        </p:spPr>
      </p:sp>
      <p:pic>
        <p:nvPicPr>
          <p:cNvPr id="17" name="Find it second-hand icon" descr="Find it second-hand icon">    </p:cNvPr>
          <p:cNvPicPr>
            <a:picLocks noChangeAspect="1"/>
          </p:cNvPicPr>
          <p:nvPr/>
        </p:nvPicPr>
        <p:blipFill>
          <a:blip r:embed="rId5"/>
          <a:stretch>
            <a:fillRect/>
          </a:stretch>
        </p:blipFill>
        <p:spPr>
          <a:xfrm>
            <a:off x="848197" y="5612221"/>
            <a:ext cx="296997" cy="296997"/>
          </a:xfrm>
          <a:prstGeom prst="rect">
            <a:avLst/>
          </a:prstGeom>
        </p:spPr>
      </p:pic>
      <p:sp>
        <p:nvSpPr>
          <p:cNvPr id="18" name="Find it second-hand title"/>
          <p:cNvSpPr txBox="1"/>
          <p:nvPr/>
        </p:nvSpPr>
        <p:spPr>
          <a:xfrm>
            <a:off x="1463040" y="5449824"/>
            <a:ext cx="5212080" cy="329184"/>
          </a:xfrm>
          <a:prstGeom prst="rect">
            <a:avLst/>
          </a:prstGeom>
          <a:noFill/>
          <a:ln/>
        </p:spPr>
        <p:txBody>
          <a:bodyPr wrap="square" lIns="0" tIns="0" rIns="0" bIns="0" rtlCol="0" anchor="ctr"/>
          <a:lstStyle/>
          <a:p>
            <a:pPr indent="0" marL="0">
              <a:buNone/>
            </a:pPr>
            <a:r>
              <a:rPr lang="en-US" sz="1700" b="1" dirty="0">
                <a:solidFill>
                  <a:schemeClr val="tx1"/>
                </a:solidFill>
              </a:rPr>
              <a:t>Find it second-hand</a:t>
            </a:r>
            <a:endParaRPr lang="en-US" sz="1700" dirty="0"/>
          </a:p>
        </p:txBody>
      </p:sp>
      <p:sp>
        <p:nvSpPr>
          <p:cNvPr id="19" name="Find it second-hand text"/>
          <p:cNvSpPr txBox="1"/>
          <p:nvPr/>
        </p:nvSpPr>
        <p:spPr>
          <a:xfrm>
            <a:off x="1463040" y="5779008"/>
            <a:ext cx="5212080" cy="292608"/>
          </a:xfrm>
          <a:prstGeom prst="rect">
            <a:avLst/>
          </a:prstGeom>
          <a:noFill/>
          <a:ln/>
        </p:spPr>
        <p:txBody>
          <a:bodyPr wrap="square" lIns="0" tIns="0" rIns="0" bIns="0" rtlCol="0" anchor="ctr"/>
          <a:lstStyle/>
          <a:p>
            <a:pPr indent="0" marL="0">
              <a:buNone/>
            </a:pPr>
            <a:r>
              <a:rPr lang="en-US" sz="1400" dirty="0">
                <a:solidFill>
                  <a:schemeClr val="tx2"/>
                </a:solidFill>
              </a:rPr>
              <a:t>Search Depop, Vinted or eBay in one tap</a:t>
            </a:r>
            <a:endParaRPr lang="en-US" sz="1400" dirty="0"/>
          </a:p>
        </p:txBody>
      </p:sp>
      <p:sp>
        <p:nvSpPr>
          <p:cNvPr id="20" name="Event line"/>
          <p:cNvSpPr txBox="1"/>
          <p:nvPr/>
        </p:nvSpPr>
        <p:spPr>
          <a:xfrm>
            <a:off x="548640" y="6382512"/>
            <a:ext cx="6400800" cy="274320"/>
          </a:xfrm>
          <a:prstGeom prst="rect">
            <a:avLst/>
          </a:prstGeom>
          <a:noFill/>
          <a:ln/>
        </p:spPr>
        <p:txBody>
          <a:bodyPr wrap="square" lIns="0" tIns="0" rIns="0" bIns="0" rtlCol="0" anchor="ctr"/>
          <a:lstStyle/>
          <a:p>
            <a:pPr indent="0" marL="0">
              <a:buNone/>
            </a:pPr>
            <a:r>
              <a:rPr lang="en-US" sz="1200" dirty="0">
                <a:solidFill>
                  <a:schemeClr val="tx2"/>
                </a:solidFill>
              </a:rPr>
              <a:t>HackNotts '26  ·  Theo Rook &amp; Rafferty Carter-Lazenbury</a:t>
            </a:r>
            <a:endParaRPr lang="en-US" sz="1200" dirty="0"/>
          </a:p>
        </p:txBody>
      </p:sp>
      <p:pic>
        <p:nvPicPr>
          <p:cNvPr id="21" name="Closet screenshot" descr="The RetroFit closet in the Y2K Chrome theme, showing pink, amber and violet Y2K glasses and a pink leopard bucket hat">    </p:cNvPr>
          <p:cNvPicPr>
            <a:picLocks noChangeAspect="1"/>
          </p:cNvPicPr>
          <p:nvPr/>
        </p:nvPicPr>
        <p:blipFill>
          <a:blip r:embed="rId6"/>
          <a:stretch>
            <a:fillRect/>
          </a:stretch>
        </p:blipFill>
        <p:spPr>
          <a:xfrm rot="180000">
            <a:off x="8183880" y="384048"/>
            <a:ext cx="3184826" cy="608990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400" dirty="0">
                <a:solidFill>
                  <a:schemeClr val="tx1"/>
                </a:solidFill>
              </a:rPr>
              <a:t>Inside the app</a:t>
            </a:r>
            <a:endParaRPr lang="en-US" sz="3400" dirty="0"/>
          </a:p>
        </p:txBody>
      </p:sp>
      <p:pic>
        <p:nvPicPr>
          <p:cNvPr id="3" name="Browse the closet screenshot" descr="The closet grid with search, category filters and glasses cards">    </p:cNvPr>
          <p:cNvPicPr>
            <a:picLocks noChangeAspect="1"/>
          </p:cNvPicPr>
          <p:nvPr/>
        </p:nvPicPr>
        <p:blipFill>
          <a:blip r:embed="rId1"/>
          <a:stretch>
            <a:fillRect/>
          </a:stretch>
        </p:blipFill>
        <p:spPr>
          <a:xfrm>
            <a:off x="548640" y="1207008"/>
            <a:ext cx="2319280" cy="4434840"/>
          </a:xfrm>
          <a:prstGeom prst="rect">
            <a:avLst/>
          </a:prstGeom>
        </p:spPr>
      </p:pic>
      <p:sp>
        <p:nvSpPr>
          <p:cNvPr id="4" name="Browse the closet caption"/>
          <p:cNvSpPr txBox="1"/>
          <p:nvPr/>
        </p:nvSpPr>
        <p:spPr>
          <a:xfrm>
            <a:off x="781101"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Browse the closet</a:t>
            </a:r>
            <a:endParaRPr lang="en-US" sz="1500" dirty="0"/>
          </a:p>
        </p:txBody>
      </p:sp>
      <p:sp>
        <p:nvSpPr>
          <p:cNvPr id="5" name="Browse the closet detail"/>
          <p:cNvSpPr txBox="1"/>
          <p:nvPr/>
        </p:nvSpPr>
        <p:spPr>
          <a:xfrm>
            <a:off x="781101"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26 Y2K pieces, with search and filters</a:t>
            </a:r>
            <a:endParaRPr lang="en-US" sz="1200" dirty="0"/>
          </a:p>
        </p:txBody>
      </p:sp>
      <p:pic>
        <p:nvPicPr>
          <p:cNvPr id="6" name="Try it on with AI screenshot" descr="The Try this on with AI prompt over the closet">    </p:cNvPr>
          <p:cNvPicPr>
            <a:picLocks noChangeAspect="1"/>
          </p:cNvPicPr>
          <p:nvPr/>
        </p:nvPicPr>
        <p:blipFill>
          <a:blip r:embed="rId2"/>
          <a:stretch>
            <a:fillRect/>
          </a:stretch>
        </p:blipFill>
        <p:spPr>
          <a:xfrm>
            <a:off x="3473685" y="1207008"/>
            <a:ext cx="2319280" cy="4434840"/>
          </a:xfrm>
          <a:prstGeom prst="rect">
            <a:avLst/>
          </a:prstGeom>
        </p:spPr>
      </p:pic>
      <p:sp>
        <p:nvSpPr>
          <p:cNvPr id="7" name="Try it on with AI caption"/>
          <p:cNvSpPr txBox="1"/>
          <p:nvPr/>
        </p:nvSpPr>
        <p:spPr>
          <a:xfrm>
            <a:off x="3706146"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Try it on with AI</a:t>
            </a:r>
            <a:endParaRPr lang="en-US" sz="1500" dirty="0"/>
          </a:p>
        </p:txBody>
      </p:sp>
      <p:sp>
        <p:nvSpPr>
          <p:cNvPr id="8" name="Try it on with AI detail"/>
          <p:cNvSpPr txBox="1"/>
          <p:nvPr/>
        </p:nvSpPr>
        <p:spPr>
          <a:xfrm>
            <a:off x="3706146"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Take a photo, or build an outfit first</a:t>
            </a:r>
            <a:endParaRPr lang="en-US" sz="1200" dirty="0"/>
          </a:p>
        </p:txBody>
      </p:sp>
      <p:pic>
        <p:nvPicPr>
          <p:cNvPr id="9" name="Find it second-hand screenshot" descr="The Find it second-hand picker with Depop, Vinted and eBay buttons">    </p:cNvPr>
          <p:cNvPicPr>
            <a:picLocks noChangeAspect="1"/>
          </p:cNvPicPr>
          <p:nvPr/>
        </p:nvPicPr>
        <p:blipFill>
          <a:blip r:embed="rId3"/>
          <a:stretch>
            <a:fillRect/>
          </a:stretch>
        </p:blipFill>
        <p:spPr>
          <a:xfrm>
            <a:off x="6398730" y="1207008"/>
            <a:ext cx="2319280" cy="4434840"/>
          </a:xfrm>
          <a:prstGeom prst="rect">
            <a:avLst/>
          </a:prstGeom>
        </p:spPr>
      </p:pic>
      <p:sp>
        <p:nvSpPr>
          <p:cNvPr id="10" name="Find it second-hand caption"/>
          <p:cNvSpPr txBox="1"/>
          <p:nvPr/>
        </p:nvSpPr>
        <p:spPr>
          <a:xfrm>
            <a:off x="6631191"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Find it second-hand</a:t>
            </a:r>
            <a:endParaRPr lang="en-US" sz="1500" dirty="0"/>
          </a:p>
        </p:txBody>
      </p:sp>
      <p:sp>
        <p:nvSpPr>
          <p:cNvPr id="11" name="Find it second-hand detail"/>
          <p:cNvSpPr txBox="1"/>
          <p:nvPr/>
        </p:nvSpPr>
        <p:spPr>
          <a:xfrm>
            <a:off x="6631191"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Depop, Vinted or eBay in one tap</a:t>
            </a:r>
            <a:endParaRPr lang="en-US" sz="1200" dirty="0"/>
          </a:p>
        </p:txBody>
      </p:sp>
      <p:pic>
        <p:nvPicPr>
          <p:cNvPr id="12" name="Pick your theme screenshot" descr="The Profile tab with the Classic and Y2K Chrome theme switch">    </p:cNvPr>
          <p:cNvPicPr>
            <a:picLocks noChangeAspect="1"/>
          </p:cNvPicPr>
          <p:nvPr/>
        </p:nvPicPr>
        <p:blipFill>
          <a:blip r:embed="rId4"/>
          <a:stretch>
            <a:fillRect/>
          </a:stretch>
        </p:blipFill>
        <p:spPr>
          <a:xfrm>
            <a:off x="9323775" y="1207008"/>
            <a:ext cx="2319280" cy="4434840"/>
          </a:xfrm>
          <a:prstGeom prst="rect">
            <a:avLst/>
          </a:prstGeom>
        </p:spPr>
      </p:pic>
      <p:sp>
        <p:nvSpPr>
          <p:cNvPr id="13" name="Pick your theme caption"/>
          <p:cNvSpPr txBox="1"/>
          <p:nvPr/>
        </p:nvSpPr>
        <p:spPr>
          <a:xfrm>
            <a:off x="9556236"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Pick your theme</a:t>
            </a:r>
            <a:endParaRPr lang="en-US" sz="1500" dirty="0"/>
          </a:p>
        </p:txBody>
      </p:sp>
      <p:sp>
        <p:nvSpPr>
          <p:cNvPr id="14" name="Pick your theme detail"/>
          <p:cNvSpPr txBox="1"/>
          <p:nvPr/>
        </p:nvSpPr>
        <p:spPr>
          <a:xfrm>
            <a:off x="9556236"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Classic Windows or Y2K Chrome, live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400" dirty="0">
                <a:solidFill>
                  <a:schemeClr val="tx1"/>
                </a:solidFill>
              </a:rPr>
              <a:t>Prefer it Classic?</a:t>
            </a:r>
            <a:endParaRPr lang="en-US" sz="3400" dirty="0"/>
          </a:p>
        </p:txBody>
      </p:sp>
      <p:pic>
        <p:nvPicPr>
          <p:cNvPr id="3" name="Classic closet screenshot" descr="The closet in the Classic Windows 2000 theme, with grey bevelled buttons and a blue gradient title bar">    </p:cNvPr>
          <p:cNvPicPr>
            <a:picLocks noChangeAspect="1"/>
          </p:cNvPicPr>
          <p:nvPr/>
        </p:nvPicPr>
        <p:blipFill>
          <a:blip r:embed="rId1"/>
          <a:stretch>
            <a:fillRect/>
          </a:stretch>
        </p:blipFill>
        <p:spPr>
          <a:xfrm>
            <a:off x="548640" y="1207008"/>
            <a:ext cx="2319280" cy="4434840"/>
          </a:xfrm>
          <a:prstGeom prst="rect">
            <a:avLst/>
          </a:prstGeom>
        </p:spPr>
      </p:pic>
      <p:sp>
        <p:nvSpPr>
          <p:cNvPr id="4" name="Classic closet caption"/>
          <p:cNvSpPr txBox="1"/>
          <p:nvPr/>
        </p:nvSpPr>
        <p:spPr>
          <a:xfrm>
            <a:off x="781101"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Classic closet</a:t>
            </a:r>
            <a:endParaRPr lang="en-US" sz="1500" dirty="0"/>
          </a:p>
        </p:txBody>
      </p:sp>
      <p:sp>
        <p:nvSpPr>
          <p:cNvPr id="5" name="Classic closet detail"/>
          <p:cNvSpPr txBox="1"/>
          <p:nvPr/>
        </p:nvSpPr>
        <p:spPr>
          <a:xfrm>
            <a:off x="781101"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Grey bevelled buttons and windows</a:t>
            </a:r>
            <a:endParaRPr lang="en-US" sz="1200" dirty="0"/>
          </a:p>
        </p:txBody>
      </p:sp>
      <p:pic>
        <p:nvPicPr>
          <p:cNvPr id="6" name="Windows dialogs screenshot" descr="The Try this on with AI prompt as a Classic Windows message box">    </p:cNvPr>
          <p:cNvPicPr>
            <a:picLocks noChangeAspect="1"/>
          </p:cNvPicPr>
          <p:nvPr/>
        </p:nvPicPr>
        <p:blipFill>
          <a:blip r:embed="rId2"/>
          <a:stretch>
            <a:fillRect/>
          </a:stretch>
        </p:blipFill>
        <p:spPr>
          <a:xfrm>
            <a:off x="3473685" y="1207008"/>
            <a:ext cx="2319280" cy="4434840"/>
          </a:xfrm>
          <a:prstGeom prst="rect">
            <a:avLst/>
          </a:prstGeom>
        </p:spPr>
      </p:pic>
      <p:sp>
        <p:nvSpPr>
          <p:cNvPr id="7" name="Windows dialogs caption"/>
          <p:cNvSpPr txBox="1"/>
          <p:nvPr/>
        </p:nvSpPr>
        <p:spPr>
          <a:xfrm>
            <a:off x="3706146"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Windows dialogs</a:t>
            </a:r>
            <a:endParaRPr lang="en-US" sz="1500" dirty="0"/>
          </a:p>
        </p:txBody>
      </p:sp>
      <p:sp>
        <p:nvSpPr>
          <p:cNvPr id="8" name="Windows dialogs detail"/>
          <p:cNvSpPr txBox="1"/>
          <p:nvPr/>
        </p:nvSpPr>
        <p:spPr>
          <a:xfrm>
            <a:off x="3706146"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The same AI try-on, Windows 2000 style</a:t>
            </a:r>
            <a:endParaRPr lang="en-US" sz="1200" dirty="0"/>
          </a:p>
        </p:txBody>
      </p:sp>
      <p:pic>
        <p:nvPicPr>
          <p:cNvPr id="9" name="Same shops screenshot" descr="The Find it second-hand picker in the Classic theme">    </p:cNvPr>
          <p:cNvPicPr>
            <a:picLocks noChangeAspect="1"/>
          </p:cNvPicPr>
          <p:nvPr/>
        </p:nvPicPr>
        <p:blipFill>
          <a:blip r:embed="rId3"/>
          <a:stretch>
            <a:fillRect/>
          </a:stretch>
        </p:blipFill>
        <p:spPr>
          <a:xfrm>
            <a:off x="6398730" y="1207008"/>
            <a:ext cx="2319280" cy="4434840"/>
          </a:xfrm>
          <a:prstGeom prst="rect">
            <a:avLst/>
          </a:prstGeom>
        </p:spPr>
      </p:pic>
      <p:sp>
        <p:nvSpPr>
          <p:cNvPr id="10" name="Same shops caption"/>
          <p:cNvSpPr txBox="1"/>
          <p:nvPr/>
        </p:nvSpPr>
        <p:spPr>
          <a:xfrm>
            <a:off x="6631191"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Same shops</a:t>
            </a:r>
            <a:endParaRPr lang="en-US" sz="1500" dirty="0"/>
          </a:p>
        </p:txBody>
      </p:sp>
      <p:sp>
        <p:nvSpPr>
          <p:cNvPr id="11" name="Same shops detail"/>
          <p:cNvSpPr txBox="1"/>
          <p:nvPr/>
        </p:nvSpPr>
        <p:spPr>
          <a:xfrm>
            <a:off x="6631191"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Depop, Vinted or eBay, still one tap</a:t>
            </a:r>
            <a:endParaRPr lang="en-US" sz="1200" dirty="0"/>
          </a:p>
        </p:txBody>
      </p:sp>
      <p:pic>
        <p:nvPicPr>
          <p:cNvPr id="12" name="One switch screenshot" descr="The Profile tab with Classic selected in the theme switch">    </p:cNvPr>
          <p:cNvPicPr>
            <a:picLocks noChangeAspect="1"/>
          </p:cNvPicPr>
          <p:nvPr/>
        </p:nvPicPr>
        <p:blipFill>
          <a:blip r:embed="rId4"/>
          <a:stretch>
            <a:fillRect/>
          </a:stretch>
        </p:blipFill>
        <p:spPr>
          <a:xfrm>
            <a:off x="9323775" y="1207008"/>
            <a:ext cx="2319280" cy="4434840"/>
          </a:xfrm>
          <a:prstGeom prst="rect">
            <a:avLst/>
          </a:prstGeom>
        </p:spPr>
      </p:pic>
      <p:sp>
        <p:nvSpPr>
          <p:cNvPr id="13" name="One switch caption"/>
          <p:cNvSpPr txBox="1"/>
          <p:nvPr/>
        </p:nvSpPr>
        <p:spPr>
          <a:xfrm>
            <a:off x="9556236" y="5669280"/>
            <a:ext cx="1854358" cy="292608"/>
          </a:xfrm>
          <a:prstGeom prst="rect">
            <a:avLst/>
          </a:prstGeom>
          <a:noFill/>
          <a:ln/>
        </p:spPr>
        <p:txBody>
          <a:bodyPr wrap="square" lIns="0" tIns="0" rIns="0" bIns="0" rtlCol="0" anchor="ctr">
            <a:normAutofit/>
          </a:bodyPr>
          <a:lstStyle/>
          <a:p>
            <a:pPr indent="0" marL="0">
              <a:buNone/>
            </a:pPr>
            <a:r>
              <a:rPr lang="en-US" sz="1500" b="1" dirty="0">
                <a:solidFill>
                  <a:schemeClr val="tx1"/>
                </a:solidFill>
              </a:rPr>
              <a:t>One switch</a:t>
            </a:r>
            <a:endParaRPr lang="en-US" sz="1500" dirty="0"/>
          </a:p>
        </p:txBody>
      </p:sp>
      <p:sp>
        <p:nvSpPr>
          <p:cNvPr id="14" name="One switch detail"/>
          <p:cNvSpPr txBox="1"/>
          <p:nvPr/>
        </p:nvSpPr>
        <p:spPr>
          <a:xfrm>
            <a:off x="9556236" y="5971032"/>
            <a:ext cx="1854358" cy="438912"/>
          </a:xfrm>
          <a:prstGeom prst="rect">
            <a:avLst/>
          </a:prstGeom>
          <a:noFill/>
          <a:ln/>
        </p:spPr>
        <p:txBody>
          <a:bodyPr wrap="square" lIns="0" tIns="0" rIns="0" bIns="0" rtlCol="0" anchor="t"/>
          <a:lstStyle/>
          <a:p>
            <a:pPr indent="0" marL="0">
              <a:buNone/>
            </a:pPr>
            <a:r>
              <a:rPr lang="en-US" sz="1200" dirty="0">
                <a:solidFill>
                  <a:schemeClr val="tx2"/>
                </a:solidFill>
              </a:rPr>
              <a:t>Flip between the two themes any time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84048"/>
            <a:ext cx="11064240" cy="731520"/>
          </a:xfrm>
          <a:prstGeom prst="rect">
            <a:avLst/>
          </a:prstGeom>
          <a:noFill/>
          <a:ln/>
        </p:spPr>
        <p:txBody>
          <a:bodyPr wrap="square" lIns="0" tIns="0" rIns="0" bIns="0" rtlCol="0" anchor="ctr"/>
          <a:lstStyle/>
          <a:p>
            <a:pPr algn="l" indent="0" marL="0">
              <a:buNone/>
            </a:pPr>
            <a:r>
              <a:rPr lang="en-US" sz="3400" dirty="0">
                <a:solidFill>
                  <a:schemeClr val="tx1"/>
                </a:solidFill>
              </a:rPr>
              <a:t>How we built it</a:t>
            </a:r>
            <a:endParaRPr lang="en-US" sz="3400" dirty="0"/>
          </a:p>
        </p:txBody>
      </p:sp>
      <p:sp>
        <p:nvSpPr>
          <p:cNvPr id="3" name="iPhone app node"/>
          <p:cNvSpPr/>
          <p:nvPr/>
        </p:nvSpPr>
        <p:spPr>
          <a:xfrm>
            <a:off x="548640" y="1371600"/>
            <a:ext cx="3246120" cy="1234440"/>
          </a:xfrm>
          <a:prstGeom prst="roundRect">
            <a:avLst>
              <a:gd name="adj" fmla="val 11852"/>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4" name="iPhone app circle"/>
          <p:cNvSpPr/>
          <p:nvPr/>
        </p:nvSpPr>
        <p:spPr>
          <a:xfrm>
            <a:off x="749808" y="1700784"/>
            <a:ext cx="585216" cy="585216"/>
          </a:xfrm>
          <a:prstGeom prst="ellipse">
            <a:avLst/>
          </a:prstGeom>
          <a:solidFill>
            <a:schemeClr val="accent1"/>
          </a:solidFill>
          <a:ln w="19050">
            <a:solidFill>
              <a:srgbClr val="FFFFFF"/>
            </a:solidFill>
            <a:prstDash val="solid"/>
          </a:ln>
        </p:spPr>
      </p:sp>
      <p:pic>
        <p:nvPicPr>
          <p:cNvPr id="5" name="iPhone app icon" descr="iPhone app icon">    </p:cNvPr>
          <p:cNvPicPr>
            <a:picLocks noChangeAspect="1"/>
          </p:cNvPicPr>
          <p:nvPr/>
        </p:nvPicPr>
        <p:blipFill>
          <a:blip r:embed="rId1"/>
          <a:stretch>
            <a:fillRect/>
          </a:stretch>
        </p:blipFill>
        <p:spPr>
          <a:xfrm>
            <a:off x="878556" y="1829532"/>
            <a:ext cx="327721" cy="327721"/>
          </a:xfrm>
          <a:prstGeom prst="rect">
            <a:avLst/>
          </a:prstGeom>
        </p:spPr>
      </p:pic>
      <p:sp>
        <p:nvSpPr>
          <p:cNvPr id="6" name="iPhone app title"/>
          <p:cNvSpPr txBox="1"/>
          <p:nvPr/>
        </p:nvSpPr>
        <p:spPr>
          <a:xfrm>
            <a:off x="1508760" y="1517904"/>
            <a:ext cx="2148840" cy="365760"/>
          </a:xfrm>
          <a:prstGeom prst="rect">
            <a:avLst/>
          </a:prstGeom>
          <a:noFill/>
          <a:ln/>
        </p:spPr>
        <p:txBody>
          <a:bodyPr wrap="square" lIns="0" tIns="0" rIns="0" bIns="0" rtlCol="0" anchor="ctr"/>
          <a:lstStyle/>
          <a:p>
            <a:pPr indent="0" marL="0">
              <a:buNone/>
            </a:pPr>
            <a:r>
              <a:rPr lang="en-US" sz="1700" b="1" dirty="0">
                <a:solidFill>
                  <a:schemeClr val="tx1"/>
                </a:solidFill>
              </a:rPr>
              <a:t>iPhone app</a:t>
            </a:r>
            <a:endParaRPr lang="en-US" sz="1700" dirty="0"/>
          </a:p>
        </p:txBody>
      </p:sp>
      <p:sp>
        <p:nvSpPr>
          <p:cNvPr id="7" name="iPhone app text"/>
          <p:cNvSpPr txBox="1"/>
          <p:nvPr/>
        </p:nvSpPr>
        <p:spPr>
          <a:xfrm>
            <a:off x="1508760" y="1883664"/>
            <a:ext cx="2148840" cy="566928"/>
          </a:xfrm>
          <a:prstGeom prst="rect">
            <a:avLst/>
          </a:prstGeom>
          <a:noFill/>
          <a:ln/>
        </p:spPr>
        <p:txBody>
          <a:bodyPr wrap="square" lIns="0" tIns="0" rIns="0" bIns="0" rtlCol="0" anchor="t"/>
          <a:lstStyle/>
          <a:p>
            <a:pPr indent="0" marL="0">
              <a:buNone/>
            </a:pPr>
            <a:r>
              <a:rPr lang="en-US" sz="1300" dirty="0">
                <a:solidFill>
                  <a:schemeClr val="tx2"/>
                </a:solidFill>
              </a:rPr>
              <a:t>SwiftUI, ARKit and RealityKit</a:t>
            </a:r>
            <a:endParaRPr lang="en-US" sz="1300" dirty="0"/>
          </a:p>
        </p:txBody>
      </p:sp>
      <p:sp>
        <p:nvSpPr>
          <p:cNvPr id="8" name="Flow arrow 1"/>
          <p:cNvSpPr/>
          <p:nvPr/>
        </p:nvSpPr>
        <p:spPr>
          <a:xfrm>
            <a:off x="3886200" y="1984248"/>
            <a:ext cx="493776" cy="0"/>
          </a:xfrm>
          <a:prstGeom prst="line">
            <a:avLst/>
          </a:prstGeom>
          <a:noFill/>
          <a:ln w="31750">
            <a:solidFill>
              <a:schemeClr val="accent1"/>
            </a:solidFill>
            <a:prstDash val="solid"/>
            <a:headEnd type="triangle"/>
            <a:tailEnd type="triangle"/>
          </a:ln>
        </p:spPr>
      </p:sp>
      <p:sp>
        <p:nvSpPr>
          <p:cNvPr id="9" name="Vercel function node"/>
          <p:cNvSpPr/>
          <p:nvPr/>
        </p:nvSpPr>
        <p:spPr>
          <a:xfrm>
            <a:off x="4471416" y="1371600"/>
            <a:ext cx="3246120" cy="1234440"/>
          </a:xfrm>
          <a:prstGeom prst="roundRect">
            <a:avLst>
              <a:gd name="adj" fmla="val 11852"/>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10" name="Vercel function circle"/>
          <p:cNvSpPr/>
          <p:nvPr/>
        </p:nvSpPr>
        <p:spPr>
          <a:xfrm>
            <a:off x="4672584" y="1700784"/>
            <a:ext cx="585216" cy="585216"/>
          </a:xfrm>
          <a:prstGeom prst="ellipse">
            <a:avLst/>
          </a:prstGeom>
          <a:solidFill>
            <a:schemeClr val="tx1"/>
          </a:solidFill>
          <a:ln w="19050">
            <a:solidFill>
              <a:srgbClr val="FFFFFF"/>
            </a:solidFill>
            <a:prstDash val="solid"/>
          </a:ln>
        </p:spPr>
      </p:sp>
      <p:pic>
        <p:nvPicPr>
          <p:cNvPr id="11" name="Vercel function icon" descr="Vercel function icon">    </p:cNvPr>
          <p:cNvPicPr>
            <a:picLocks noChangeAspect="1"/>
          </p:cNvPicPr>
          <p:nvPr/>
        </p:nvPicPr>
        <p:blipFill>
          <a:blip r:embed="rId2"/>
          <a:stretch>
            <a:fillRect/>
          </a:stretch>
        </p:blipFill>
        <p:spPr>
          <a:xfrm>
            <a:off x="4801332" y="1829532"/>
            <a:ext cx="327721" cy="327721"/>
          </a:xfrm>
          <a:prstGeom prst="rect">
            <a:avLst/>
          </a:prstGeom>
        </p:spPr>
      </p:pic>
      <p:sp>
        <p:nvSpPr>
          <p:cNvPr id="12" name="Vercel function title"/>
          <p:cNvSpPr txBox="1"/>
          <p:nvPr/>
        </p:nvSpPr>
        <p:spPr>
          <a:xfrm>
            <a:off x="5431536" y="1517904"/>
            <a:ext cx="2148840" cy="365760"/>
          </a:xfrm>
          <a:prstGeom prst="rect">
            <a:avLst/>
          </a:prstGeom>
          <a:noFill/>
          <a:ln/>
        </p:spPr>
        <p:txBody>
          <a:bodyPr wrap="square" lIns="0" tIns="0" rIns="0" bIns="0" rtlCol="0" anchor="ctr"/>
          <a:lstStyle/>
          <a:p>
            <a:pPr indent="0" marL="0">
              <a:buNone/>
            </a:pPr>
            <a:r>
              <a:rPr lang="en-US" sz="1700" b="1" dirty="0">
                <a:solidFill>
                  <a:schemeClr val="tx1"/>
                </a:solidFill>
              </a:rPr>
              <a:t>Vercel function</a:t>
            </a:r>
            <a:endParaRPr lang="en-US" sz="1700" dirty="0"/>
          </a:p>
        </p:txBody>
      </p:sp>
      <p:sp>
        <p:nvSpPr>
          <p:cNvPr id="13" name="Vercel function text"/>
          <p:cNvSpPr txBox="1"/>
          <p:nvPr/>
        </p:nvSpPr>
        <p:spPr>
          <a:xfrm>
            <a:off x="5431536" y="1883664"/>
            <a:ext cx="2148840" cy="566928"/>
          </a:xfrm>
          <a:prstGeom prst="rect">
            <a:avLst/>
          </a:prstGeom>
          <a:noFill/>
          <a:ln/>
        </p:spPr>
        <p:txBody>
          <a:bodyPr wrap="square" lIns="0" tIns="0" rIns="0" bIns="0" rtlCol="0" anchor="t"/>
          <a:lstStyle/>
          <a:p>
            <a:pPr indent="0" marL="0">
              <a:buNone/>
            </a:pPr>
            <a:r>
              <a:rPr lang="en-US" sz="1300" dirty="0">
                <a:solidFill>
                  <a:schemeClr val="tx2"/>
                </a:solidFill>
              </a:rPr>
              <a:t>TypeScript. Keeps the AI key off the phone</a:t>
            </a:r>
            <a:endParaRPr lang="en-US" sz="1300" dirty="0"/>
          </a:p>
        </p:txBody>
      </p:sp>
      <p:sp>
        <p:nvSpPr>
          <p:cNvPr id="14" name="Flow arrow 2"/>
          <p:cNvSpPr/>
          <p:nvPr/>
        </p:nvSpPr>
        <p:spPr>
          <a:xfrm>
            <a:off x="7808976" y="1984248"/>
            <a:ext cx="493776" cy="0"/>
          </a:xfrm>
          <a:prstGeom prst="line">
            <a:avLst/>
          </a:prstGeom>
          <a:noFill/>
          <a:ln w="31750">
            <a:solidFill>
              <a:schemeClr val="accent1"/>
            </a:solidFill>
            <a:prstDash val="solid"/>
            <a:headEnd type="triangle"/>
            <a:tailEnd type="triangle"/>
          </a:ln>
        </p:spPr>
      </p:sp>
      <p:sp>
        <p:nvSpPr>
          <p:cNvPr id="15" name="fal.ai try-on node"/>
          <p:cNvSpPr/>
          <p:nvPr/>
        </p:nvSpPr>
        <p:spPr>
          <a:xfrm>
            <a:off x="8394192" y="1371600"/>
            <a:ext cx="3246120" cy="1234440"/>
          </a:xfrm>
          <a:prstGeom prst="roundRect">
            <a:avLst>
              <a:gd name="adj" fmla="val 11852"/>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16" name="fal.ai try-on circle"/>
          <p:cNvSpPr/>
          <p:nvPr/>
        </p:nvSpPr>
        <p:spPr>
          <a:xfrm>
            <a:off x="8595360" y="1700784"/>
            <a:ext cx="585216" cy="585216"/>
          </a:xfrm>
          <a:prstGeom prst="ellipse">
            <a:avLst/>
          </a:prstGeom>
          <a:solidFill>
            <a:schemeClr val="accent2"/>
          </a:solidFill>
          <a:ln w="19050">
            <a:solidFill>
              <a:srgbClr val="FFFFFF"/>
            </a:solidFill>
            <a:prstDash val="solid"/>
          </a:ln>
        </p:spPr>
      </p:sp>
      <p:pic>
        <p:nvPicPr>
          <p:cNvPr id="17" name="fal.ai try-on icon" descr="fal.ai try-on icon">    </p:cNvPr>
          <p:cNvPicPr>
            <a:picLocks noChangeAspect="1"/>
          </p:cNvPicPr>
          <p:nvPr/>
        </p:nvPicPr>
        <p:blipFill>
          <a:blip r:embed="rId3"/>
          <a:stretch>
            <a:fillRect/>
          </a:stretch>
        </p:blipFill>
        <p:spPr>
          <a:xfrm>
            <a:off x="8724108" y="1829532"/>
            <a:ext cx="327721" cy="327721"/>
          </a:xfrm>
          <a:prstGeom prst="rect">
            <a:avLst/>
          </a:prstGeom>
        </p:spPr>
      </p:pic>
      <p:sp>
        <p:nvSpPr>
          <p:cNvPr id="18" name="fal.ai try-on title"/>
          <p:cNvSpPr txBox="1"/>
          <p:nvPr/>
        </p:nvSpPr>
        <p:spPr>
          <a:xfrm>
            <a:off x="9354312" y="1517904"/>
            <a:ext cx="2148840" cy="365760"/>
          </a:xfrm>
          <a:prstGeom prst="rect">
            <a:avLst/>
          </a:prstGeom>
          <a:noFill/>
          <a:ln/>
        </p:spPr>
        <p:txBody>
          <a:bodyPr wrap="square" lIns="0" tIns="0" rIns="0" bIns="0" rtlCol="0" anchor="ctr"/>
          <a:lstStyle/>
          <a:p>
            <a:pPr indent="0" marL="0">
              <a:buNone/>
            </a:pPr>
            <a:r>
              <a:rPr lang="en-US" sz="1700" b="1" dirty="0">
                <a:solidFill>
                  <a:schemeClr val="tx1"/>
                </a:solidFill>
              </a:rPr>
              <a:t>fal.ai try-on</a:t>
            </a:r>
            <a:endParaRPr lang="en-US" sz="1700" dirty="0"/>
          </a:p>
        </p:txBody>
      </p:sp>
      <p:sp>
        <p:nvSpPr>
          <p:cNvPr id="19" name="fal.ai try-on text"/>
          <p:cNvSpPr txBox="1"/>
          <p:nvPr/>
        </p:nvSpPr>
        <p:spPr>
          <a:xfrm>
            <a:off x="9354312" y="1883664"/>
            <a:ext cx="2148840" cy="566928"/>
          </a:xfrm>
          <a:prstGeom prst="rect">
            <a:avLst/>
          </a:prstGeom>
          <a:noFill/>
          <a:ln/>
        </p:spPr>
        <p:txBody>
          <a:bodyPr wrap="square" lIns="0" tIns="0" rIns="0" bIns="0" rtlCol="0" anchor="t"/>
          <a:lstStyle/>
          <a:p>
            <a:pPr indent="0" marL="0">
              <a:buNone/>
            </a:pPr>
            <a:r>
              <a:rPr lang="en-US" sz="1300" dirty="0">
                <a:solidFill>
                  <a:schemeClr val="tx2"/>
                </a:solidFill>
              </a:rPr>
              <a:t>Renders you wearing the piece</a:t>
            </a:r>
            <a:endParaRPr lang="en-US" sz="1300" dirty="0"/>
          </a:p>
        </p:txBody>
      </p:sp>
      <p:sp>
        <p:nvSpPr>
          <p:cNvPr id="20" name="Flow caption"/>
          <p:cNvSpPr txBox="1"/>
          <p:nvPr/>
        </p:nvSpPr>
        <p:spPr>
          <a:xfrm>
            <a:off x="548640" y="2724912"/>
            <a:ext cx="11091672" cy="292608"/>
          </a:xfrm>
          <a:prstGeom prst="rect">
            <a:avLst/>
          </a:prstGeom>
          <a:noFill/>
          <a:ln/>
        </p:spPr>
        <p:txBody>
          <a:bodyPr wrap="square" lIns="0" tIns="0" rIns="0" bIns="0" rtlCol="0" anchor="ctr"/>
          <a:lstStyle/>
          <a:p>
            <a:pPr indent="0" marL="0">
              <a:buNone/>
            </a:pPr>
            <a:r>
              <a:rPr lang="en-US" sz="1300" i="1" dirty="0">
                <a:solidFill>
                  <a:schemeClr val="tx2"/>
                </a:solidFill>
              </a:rPr>
              <a:t>Photos go up, the rendered picture comes back, with live queue progress on the way</a:t>
            </a:r>
            <a:endParaRPr lang="en-US" sz="1300" dirty="0"/>
          </a:p>
        </p:txBody>
      </p:sp>
      <p:sp>
        <p:nvSpPr>
          <p:cNvPr id="21" name="Live AR try-on card"/>
          <p:cNvSpPr/>
          <p:nvPr/>
        </p:nvSpPr>
        <p:spPr>
          <a:xfrm>
            <a:off x="548640" y="3291840"/>
            <a:ext cx="3246120" cy="2514600"/>
          </a:xfrm>
          <a:prstGeom prst="roundRect">
            <a:avLst>
              <a:gd name="adj" fmla="val 5818"/>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22" name="Live AR try-on circle"/>
          <p:cNvSpPr/>
          <p:nvPr/>
        </p:nvSpPr>
        <p:spPr>
          <a:xfrm>
            <a:off x="777240" y="3520440"/>
            <a:ext cx="548640" cy="548640"/>
          </a:xfrm>
          <a:prstGeom prst="ellipse">
            <a:avLst/>
          </a:prstGeom>
          <a:solidFill>
            <a:schemeClr val="accent1"/>
          </a:solidFill>
          <a:ln w="19050">
            <a:solidFill>
              <a:srgbClr val="FFFFFF"/>
            </a:solidFill>
            <a:prstDash val="solid"/>
          </a:ln>
        </p:spPr>
      </p:sp>
      <p:pic>
        <p:nvPicPr>
          <p:cNvPr id="23" name="Live AR try-on icon" descr="Live AR try-on icon">    </p:cNvPr>
          <p:cNvPicPr>
            <a:picLocks noChangeAspect="1"/>
          </p:cNvPicPr>
          <p:nvPr/>
        </p:nvPicPr>
        <p:blipFill>
          <a:blip r:embed="rId4"/>
          <a:stretch>
            <a:fillRect/>
          </a:stretch>
        </p:blipFill>
        <p:spPr>
          <a:xfrm>
            <a:off x="897941" y="3641141"/>
            <a:ext cx="307238" cy="307238"/>
          </a:xfrm>
          <a:prstGeom prst="rect">
            <a:avLst/>
          </a:prstGeom>
        </p:spPr>
      </p:pic>
      <p:sp>
        <p:nvSpPr>
          <p:cNvPr id="24" name="Live AR try-on title"/>
          <p:cNvSpPr txBox="1"/>
          <p:nvPr/>
        </p:nvSpPr>
        <p:spPr>
          <a:xfrm>
            <a:off x="777240" y="4206240"/>
            <a:ext cx="2788920" cy="365760"/>
          </a:xfrm>
          <a:prstGeom prst="rect">
            <a:avLst/>
          </a:prstGeom>
          <a:noFill/>
          <a:ln/>
        </p:spPr>
        <p:txBody>
          <a:bodyPr wrap="square" lIns="0" tIns="0" rIns="0" bIns="0" rtlCol="0" anchor="ctr"/>
          <a:lstStyle/>
          <a:p>
            <a:pPr indent="0" marL="0">
              <a:buNone/>
            </a:pPr>
            <a:r>
              <a:rPr lang="en-US" sz="1700" b="1" dirty="0">
                <a:solidFill>
                  <a:schemeClr val="tx1"/>
                </a:solidFill>
              </a:rPr>
              <a:t>Live AR try-on</a:t>
            </a:r>
            <a:endParaRPr lang="en-US" sz="1700" dirty="0"/>
          </a:p>
        </p:txBody>
      </p:sp>
      <p:sp>
        <p:nvSpPr>
          <p:cNvPr id="25" name="Live AR try-on text"/>
          <p:cNvSpPr txBox="1"/>
          <p:nvPr/>
        </p:nvSpPr>
        <p:spPr>
          <a:xfrm>
            <a:off x="777240" y="4617720"/>
            <a:ext cx="2788920" cy="1051560"/>
          </a:xfrm>
          <a:prstGeom prst="rect">
            <a:avLst/>
          </a:prstGeom>
          <a:noFill/>
          <a:ln/>
        </p:spPr>
        <p:txBody>
          <a:bodyPr wrap="square" lIns="0" tIns="0" rIns="0" bIns="0" rtlCol="0" anchor="t"/>
          <a:lstStyle/>
          <a:p>
            <a:pPr indent="0" marL="0">
              <a:buNone/>
            </a:pPr>
            <a:r>
              <a:rPr lang="en-US" sz="1400" dirty="0">
                <a:solidFill>
                  <a:schemeClr val="tx2"/>
                </a:solidFill>
              </a:rPr>
              <a:t>ARKit tracks your face. USDZ glasses, and hats we modelled in Blender, are fitted to your eyes and head every frame.</a:t>
            </a:r>
            <a:endParaRPr lang="en-US" sz="1400" dirty="0"/>
          </a:p>
        </p:txBody>
      </p:sp>
      <p:sp>
        <p:nvSpPr>
          <p:cNvPr id="26" name="Our own design system card"/>
          <p:cNvSpPr/>
          <p:nvPr/>
        </p:nvSpPr>
        <p:spPr>
          <a:xfrm>
            <a:off x="4471416" y="3291840"/>
            <a:ext cx="3246120" cy="2514600"/>
          </a:xfrm>
          <a:prstGeom prst="roundRect">
            <a:avLst>
              <a:gd name="adj" fmla="val 5818"/>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27" name="Our own design system circle"/>
          <p:cNvSpPr/>
          <p:nvPr/>
        </p:nvSpPr>
        <p:spPr>
          <a:xfrm>
            <a:off x="4700016" y="3520440"/>
            <a:ext cx="548640" cy="548640"/>
          </a:xfrm>
          <a:prstGeom prst="ellipse">
            <a:avLst/>
          </a:prstGeom>
          <a:solidFill>
            <a:schemeClr val="accent1"/>
          </a:solidFill>
          <a:ln w="19050">
            <a:solidFill>
              <a:srgbClr val="FFFFFF"/>
            </a:solidFill>
            <a:prstDash val="solid"/>
          </a:ln>
        </p:spPr>
      </p:sp>
      <p:pic>
        <p:nvPicPr>
          <p:cNvPr id="28" name="Our own design system icon" descr="Our own design system icon">    </p:cNvPr>
          <p:cNvPicPr>
            <a:picLocks noChangeAspect="1"/>
          </p:cNvPicPr>
          <p:nvPr/>
        </p:nvPicPr>
        <p:blipFill>
          <a:blip r:embed="rId5"/>
          <a:stretch>
            <a:fillRect/>
          </a:stretch>
        </p:blipFill>
        <p:spPr>
          <a:xfrm>
            <a:off x="4820717" y="3641141"/>
            <a:ext cx="307238" cy="307238"/>
          </a:xfrm>
          <a:prstGeom prst="rect">
            <a:avLst/>
          </a:prstGeom>
        </p:spPr>
      </p:pic>
      <p:sp>
        <p:nvSpPr>
          <p:cNvPr id="29" name="Our own design system title"/>
          <p:cNvSpPr txBox="1"/>
          <p:nvPr/>
        </p:nvSpPr>
        <p:spPr>
          <a:xfrm>
            <a:off x="4700016" y="4206240"/>
            <a:ext cx="2788920" cy="365760"/>
          </a:xfrm>
          <a:prstGeom prst="rect">
            <a:avLst/>
          </a:prstGeom>
          <a:noFill/>
          <a:ln/>
        </p:spPr>
        <p:txBody>
          <a:bodyPr wrap="square" lIns="0" tIns="0" rIns="0" bIns="0" rtlCol="0" anchor="ctr"/>
          <a:lstStyle/>
          <a:p>
            <a:pPr indent="0" marL="0">
              <a:buNone/>
            </a:pPr>
            <a:r>
              <a:rPr lang="en-US" sz="1700" b="1" dirty="0">
                <a:solidFill>
                  <a:schemeClr val="tx1"/>
                </a:solidFill>
              </a:rPr>
              <a:t>Our own design system</a:t>
            </a:r>
            <a:endParaRPr lang="en-US" sz="1700" dirty="0"/>
          </a:p>
        </p:txBody>
      </p:sp>
      <p:sp>
        <p:nvSpPr>
          <p:cNvPr id="30" name="Our own design system text"/>
          <p:cNvSpPr txBox="1"/>
          <p:nvPr/>
        </p:nvSpPr>
        <p:spPr>
          <a:xfrm>
            <a:off x="4700016" y="4617720"/>
            <a:ext cx="2788920" cy="1051560"/>
          </a:xfrm>
          <a:prstGeom prst="rect">
            <a:avLst/>
          </a:prstGeom>
          <a:noFill/>
          <a:ln/>
        </p:spPr>
        <p:txBody>
          <a:bodyPr wrap="square" lIns="0" tIns="0" rIns="0" bIns="0" rtlCol="0" anchor="t"/>
          <a:lstStyle/>
          <a:p>
            <a:pPr indent="0" marL="0">
              <a:buNone/>
            </a:pPr>
            <a:r>
              <a:rPr lang="en-US" sz="1400" dirty="0">
                <a:solidFill>
                  <a:schemeClr val="tx2"/>
                </a:solidFill>
              </a:rPr>
              <a:t>A Windows 2000 component kit that also draws Y2K Chrome. Swift Observation restyles every screen the moment you switch.</a:t>
            </a:r>
            <a:endParaRPr lang="en-US" sz="1400" dirty="0"/>
          </a:p>
        </p:txBody>
      </p:sp>
      <p:sp>
        <p:nvSpPr>
          <p:cNvPr id="31" name="Second-hand search card"/>
          <p:cNvSpPr/>
          <p:nvPr/>
        </p:nvSpPr>
        <p:spPr>
          <a:xfrm>
            <a:off x="8394192" y="3291840"/>
            <a:ext cx="3246120" cy="2514600"/>
          </a:xfrm>
          <a:prstGeom prst="roundRect">
            <a:avLst>
              <a:gd name="adj" fmla="val 5818"/>
            </a:avLst>
          </a:prstGeom>
          <a:solidFill>
            <a:schemeClr val="bg1">
              <a:alpha val="78000"/>
            </a:schemeClr>
          </a:solidFill>
          <a:ln w="15875">
            <a:solidFill>
              <a:srgbClr val="D8CCF5"/>
            </a:solidFill>
            <a:prstDash val="solid"/>
          </a:ln>
          <a:effectLst>
            <a:outerShdw sx="100000" sy="100000" kx="0" ky="0" algn="bl" rotWithShape="0" blurRad="127000" dist="38100" dir="5400000">
              <a:srgbClr val="7A63C9">
                <a:alpha val="22000"/>
              </a:srgbClr>
            </a:outerShdw>
          </a:effectLst>
        </p:spPr>
      </p:sp>
      <p:sp>
        <p:nvSpPr>
          <p:cNvPr id="32" name="Second-hand search circle"/>
          <p:cNvSpPr/>
          <p:nvPr/>
        </p:nvSpPr>
        <p:spPr>
          <a:xfrm>
            <a:off x="8622792" y="3520440"/>
            <a:ext cx="548640" cy="548640"/>
          </a:xfrm>
          <a:prstGeom prst="ellipse">
            <a:avLst/>
          </a:prstGeom>
          <a:solidFill>
            <a:schemeClr val="accent1"/>
          </a:solidFill>
          <a:ln w="19050">
            <a:solidFill>
              <a:srgbClr val="FFFFFF"/>
            </a:solidFill>
            <a:prstDash val="solid"/>
          </a:ln>
        </p:spPr>
      </p:sp>
      <p:pic>
        <p:nvPicPr>
          <p:cNvPr id="33" name="Second-hand search icon" descr="Second-hand search icon">    </p:cNvPr>
          <p:cNvPicPr>
            <a:picLocks noChangeAspect="1"/>
          </p:cNvPicPr>
          <p:nvPr/>
        </p:nvPicPr>
        <p:blipFill>
          <a:blip r:embed="rId6"/>
          <a:stretch>
            <a:fillRect/>
          </a:stretch>
        </p:blipFill>
        <p:spPr>
          <a:xfrm>
            <a:off x="8743493" y="3641141"/>
            <a:ext cx="307238" cy="307238"/>
          </a:xfrm>
          <a:prstGeom prst="rect">
            <a:avLst/>
          </a:prstGeom>
        </p:spPr>
      </p:pic>
      <p:sp>
        <p:nvSpPr>
          <p:cNvPr id="34" name="Second-hand search title"/>
          <p:cNvSpPr txBox="1"/>
          <p:nvPr/>
        </p:nvSpPr>
        <p:spPr>
          <a:xfrm>
            <a:off x="8622792" y="4206240"/>
            <a:ext cx="2788920" cy="365760"/>
          </a:xfrm>
          <a:prstGeom prst="rect">
            <a:avLst/>
          </a:prstGeom>
          <a:noFill/>
          <a:ln/>
        </p:spPr>
        <p:txBody>
          <a:bodyPr wrap="square" lIns="0" tIns="0" rIns="0" bIns="0" rtlCol="0" anchor="ctr"/>
          <a:lstStyle/>
          <a:p>
            <a:pPr indent="0" marL="0">
              <a:buNone/>
            </a:pPr>
            <a:r>
              <a:rPr lang="en-US" sz="1700" b="1" dirty="0">
                <a:solidFill>
                  <a:schemeClr val="tx1"/>
                </a:solidFill>
              </a:rPr>
              <a:t>Second-hand search</a:t>
            </a:r>
            <a:endParaRPr lang="en-US" sz="1700" dirty="0"/>
          </a:p>
        </p:txBody>
      </p:sp>
      <p:sp>
        <p:nvSpPr>
          <p:cNvPr id="35" name="Second-hand search text"/>
          <p:cNvSpPr txBox="1"/>
          <p:nvPr/>
        </p:nvSpPr>
        <p:spPr>
          <a:xfrm>
            <a:off x="8622792" y="4617720"/>
            <a:ext cx="2788920" cy="1051560"/>
          </a:xfrm>
          <a:prstGeom prst="rect">
            <a:avLst/>
          </a:prstGeom>
          <a:noFill/>
          <a:ln/>
        </p:spPr>
        <p:txBody>
          <a:bodyPr wrap="square" lIns="0" tIns="0" rIns="0" bIns="0" rtlCol="0" anchor="t"/>
          <a:lstStyle/>
          <a:p>
            <a:pPr indent="0" marL="0">
              <a:buNone/>
            </a:pPr>
            <a:r>
              <a:rPr lang="en-US" sz="1400" dirty="0">
                <a:solidFill>
                  <a:schemeClr val="tx2"/>
                </a:solidFill>
              </a:rPr>
              <a:t>Every garment has its own search phrase. One tap opens it on Depop, Vinted or eBay, in the shop's app if you have it.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ive demo pill"/>
          <p:cNvSpPr/>
          <p:nvPr/>
        </p:nvSpPr>
        <p:spPr>
          <a:xfrm>
            <a:off x="5044288" y="1188720"/>
            <a:ext cx="2103120" cy="457200"/>
          </a:xfrm>
          <a:prstGeom prst="roundRect">
            <a:avLst>
              <a:gd name="adj" fmla="val 50000"/>
            </a:avLst>
          </a:prstGeom>
          <a:solidFill>
            <a:schemeClr val="accent1"/>
          </a:solidFill>
          <a:ln w="19050">
            <a:solidFill>
              <a:srgbClr val="FFFFFF"/>
            </a:solidFill>
            <a:prstDash val="solid"/>
          </a:ln>
          <a:effectLst>
            <a:outerShdw sx="100000" sy="100000" kx="0" ky="0" algn="bl" rotWithShape="0" blurRad="127000" dist="38100" dir="5400000">
              <a:srgbClr val="7A63C9">
                <a:alpha val="22000"/>
              </a:srgbClr>
            </a:outerShdw>
          </a:effectLst>
        </p:spPr>
      </p:sp>
      <p:pic>
        <p:nvPicPr>
          <p:cNvPr id="3" name="Play icon" descr="Play icon">    </p:cNvPr>
          <p:cNvPicPr>
            <a:picLocks noChangeAspect="1"/>
          </p:cNvPicPr>
          <p:nvPr/>
        </p:nvPicPr>
        <p:blipFill>
          <a:blip r:embed="rId1"/>
          <a:stretch>
            <a:fillRect/>
          </a:stretch>
        </p:blipFill>
        <p:spPr>
          <a:xfrm>
            <a:off x="5245456" y="1261872"/>
            <a:ext cx="310896" cy="310896"/>
          </a:xfrm>
          <a:prstGeom prst="rect">
            <a:avLst/>
          </a:prstGeom>
        </p:spPr>
      </p:pic>
      <p:sp>
        <p:nvSpPr>
          <p:cNvPr id="4" name="Live demo label"/>
          <p:cNvSpPr txBox="1"/>
          <p:nvPr/>
        </p:nvSpPr>
        <p:spPr>
          <a:xfrm>
            <a:off x="5592928" y="1188720"/>
            <a:ext cx="1417320" cy="457200"/>
          </a:xfrm>
          <a:prstGeom prst="rect">
            <a:avLst/>
          </a:prstGeom>
          <a:noFill/>
          <a:ln/>
        </p:spPr>
        <p:txBody>
          <a:bodyPr wrap="square" lIns="0" tIns="0" rIns="0" bIns="0" rtlCol="0" anchor="ctr"/>
          <a:lstStyle/>
          <a:p>
            <a:pPr indent="0" marL="0">
              <a:buNone/>
            </a:pPr>
            <a:r>
              <a:rPr lang="en-US" sz="1400" b="1" spc="200" kern="0" dirty="0">
                <a:solidFill>
                  <a:schemeClr val="bg1"/>
                </a:solidFill>
              </a:rPr>
              <a:t>LIVE DEMO</a:t>
            </a:r>
            <a:endParaRPr lang="en-US" sz="1400" dirty="0"/>
          </a:p>
        </p:txBody>
      </p:sp>
      <p:pic>
        <p:nvPicPr>
          <p:cNvPr id="5" name="Let's try it on" descr="Let's try it on, in liquid chrome lettering">    </p:cNvPr>
          <p:cNvPicPr>
            <a:picLocks noChangeAspect="1"/>
          </p:cNvPicPr>
          <p:nvPr/>
        </p:nvPicPr>
        <p:blipFill>
          <a:blip r:embed="rId2"/>
          <a:stretch>
            <a:fillRect/>
          </a:stretch>
        </p:blipFill>
        <p:spPr>
          <a:xfrm>
            <a:off x="1706728" y="1874520"/>
            <a:ext cx="8778240" cy="1479751"/>
          </a:xfrm>
          <a:prstGeom prst="rect">
            <a:avLst/>
          </a:prstGeom>
        </p:spPr>
      </p:pic>
      <p:pic>
        <p:nvPicPr>
          <p:cNvPr id="6" name="Sparkle left" descr="Sparkle decoration">    </p:cNvPr>
          <p:cNvPicPr>
            <a:picLocks noChangeAspect="1"/>
          </p:cNvPicPr>
          <p:nvPr/>
        </p:nvPicPr>
        <p:blipFill>
          <a:blip r:embed="rId3"/>
          <a:stretch>
            <a:fillRect/>
          </a:stretch>
        </p:blipFill>
        <p:spPr>
          <a:xfrm>
            <a:off x="1143000" y="1508760"/>
            <a:ext cx="640080" cy="640080"/>
          </a:xfrm>
          <a:prstGeom prst="rect">
            <a:avLst/>
          </a:prstGeom>
        </p:spPr>
      </p:pic>
      <p:pic>
        <p:nvPicPr>
          <p:cNvPr id="7" name="Sparkle right" descr="Sparkle decoration">    </p:cNvPr>
          <p:cNvPicPr>
            <a:picLocks noChangeAspect="1"/>
          </p:cNvPicPr>
          <p:nvPr/>
        </p:nvPicPr>
        <p:blipFill>
          <a:blip r:embed="rId4"/>
          <a:stretch>
            <a:fillRect/>
          </a:stretch>
        </p:blipFill>
        <p:spPr>
          <a:xfrm>
            <a:off x="10469880" y="2971800"/>
            <a:ext cx="457200" cy="457200"/>
          </a:xfrm>
          <a:prstGeom prst="rect">
            <a:avLst/>
          </a:prstGeom>
        </p:spPr>
      </p:pic>
      <p:sp>
        <p:nvSpPr>
          <p:cNvPr id="8" name="Text 0"/>
          <p:cNvSpPr/>
          <p:nvPr>
            <p:ph idx="100" type="title" hasCustomPrompt="1"/>
          </p:nvPr>
        </p:nvSpPr>
        <p:spPr>
          <a:xfrm>
            <a:off x="1371600" y="3703320"/>
            <a:ext cx="9445752" cy="685800"/>
          </a:xfrm>
          <a:prstGeom prst="rect">
            <a:avLst/>
          </a:prstGeom>
          <a:noFill/>
          <a:ln/>
        </p:spPr>
        <p:txBody>
          <a:bodyPr wrap="square" lIns="0" tIns="0" rIns="0" bIns="0" rtlCol="0" anchor="ctr"/>
          <a:lstStyle/>
          <a:p>
            <a:pPr algn="ctr" indent="0" marL="0">
              <a:buNone/>
            </a:pPr>
            <a:r>
              <a:rPr lang="en-US" sz="3200" dirty="0">
                <a:solidFill>
                  <a:schemeClr val="tx1"/>
                </a:solidFill>
              </a:rPr>
              <a:t>Thank you!</a:t>
            </a:r>
            <a:endParaRPr lang="en-US" sz="3200" dirty="0"/>
          </a:p>
        </p:txBody>
      </p:sp>
      <p:sp>
        <p:nvSpPr>
          <p:cNvPr id="9" name="Team"/>
          <p:cNvSpPr txBox="1"/>
          <p:nvPr/>
        </p:nvSpPr>
        <p:spPr>
          <a:xfrm>
            <a:off x="1371600" y="4526280"/>
            <a:ext cx="9445752" cy="411480"/>
          </a:xfrm>
          <a:prstGeom prst="rect">
            <a:avLst/>
          </a:prstGeom>
          <a:noFill/>
          <a:ln/>
        </p:spPr>
        <p:txBody>
          <a:bodyPr wrap="square" lIns="0" tIns="0" rIns="0" bIns="0" rtlCol="0" anchor="ctr"/>
          <a:lstStyle/>
          <a:p>
            <a:pPr algn="ctr" indent="0" marL="0">
              <a:buNone/>
            </a:pPr>
            <a:r>
              <a:rPr lang="en-US" sz="2000" b="1" dirty="0">
                <a:solidFill>
                  <a:schemeClr val="tx1"/>
                </a:solidFill>
              </a:rPr>
              <a:t>Theo Rook  ·  Rafferty Carter-Lazenbury</a:t>
            </a:r>
            <a:endParaRPr lang="en-US" sz="2000" dirty="0"/>
          </a:p>
        </p:txBody>
      </p:sp>
      <p:sp>
        <p:nvSpPr>
          <p:cNvPr id="10" name="Event"/>
          <p:cNvSpPr txBox="1"/>
          <p:nvPr/>
        </p:nvSpPr>
        <p:spPr>
          <a:xfrm>
            <a:off x="1371600" y="4983480"/>
            <a:ext cx="9445752" cy="329184"/>
          </a:xfrm>
          <a:prstGeom prst="rect">
            <a:avLst/>
          </a:prstGeom>
          <a:noFill/>
          <a:ln/>
        </p:spPr>
        <p:txBody>
          <a:bodyPr wrap="square" lIns="0" tIns="0" rIns="0" bIns="0" rtlCol="0" anchor="ctr"/>
          <a:lstStyle/>
          <a:p>
            <a:pPr algn="ctr" indent="0" marL="0">
              <a:buNone/>
            </a:pPr>
            <a:r>
              <a:rPr lang="en-US" sz="1500" dirty="0">
                <a:solidFill>
                  <a:schemeClr val="tx2"/>
                </a:solidFill>
              </a:rPr>
              <a:t>RetroFit  ·  HackNotts '26</a:t>
            </a:r>
            <a:endParaRPr lang="en-US" sz="1500" dirty="0"/>
          </a:p>
        </p:txBody>
      </p:sp>
    </p:spTree>
  </p:cSld>
  <p:clrMapOvr>
    <a:masterClrMapping/>
  </p:clrMapOvr>
</p:sld>
</file>

<file path=ppt/theme/theme1.xml><?xml version="1.0" encoding="utf-8"?>
<a:theme xmlns:a="http://schemas.openxmlformats.org/drawingml/2006/main" name="RetroFit Y2K Chrome">
  <a:themeElements>
    <a:clrScheme name="RetroFit Y2K Chrome">
      <a:dk1>
        <a:srgbClr val="2B1F5C"/>
      </a:dk1>
      <a:lt1>
        <a:srgbClr val="FFFFFF"/>
      </a:lt1>
      <a:dk2>
        <a:srgbClr val="5E4F93"/>
      </a:dk2>
      <a:lt2>
        <a:srgbClr val="F6EEFF"/>
      </a:lt2>
      <a:accent1>
        <a:srgbClr val="B0126A"/>
      </a:accent1>
      <a:accent2>
        <a:srgbClr val="FF4FA3"/>
      </a:accent2>
      <a:accent3>
        <a:srgbClr val="9F90D6"/>
      </a:accent3>
      <a:accent4>
        <a:srgbClr val="7FC8F8"/>
      </a:accent4>
      <a:accent5>
        <a:srgbClr val="7ED9B8"/>
      </a:accent5>
      <a:accent6>
        <a:srgbClr val="FFB3DA"/>
      </a:accent6>
      <a:hlink>
        <a:srgbClr val="B0126A"/>
      </a:hlink>
      <a:folHlink>
        <a:srgbClr val="6F60AB"/>
      </a:folHlink>
    </a:clrScheme>
    <a:fontScheme name="RetroFit Y2K Chrome">
      <a:majorFont>
        <a:latin typeface="Arial Blac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RetroFit - HackNotts '26</dc:title>
  <dc:subject>RetroFit judging deck</dc:subject>
  <dc:creator>Theo Rook and Rafferty Carter-Lazenbury</dc:creator>
  <cp:lastModifiedBy>Theo Rook and Rafferty Carter-Lazenbury</cp:lastModifiedBy>
  <cp:revision>1</cp:revision>
  <dcterms:created xsi:type="dcterms:W3CDTF">2026-10-25T02:09:57Z</dcterms:created>
  <dcterms:modified xsi:type="dcterms:W3CDTF">2026-10-25T02:09:57Z</dcterms:modified>
</cp:coreProperties>
</file>